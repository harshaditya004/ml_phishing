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Raleway" panose="020F0502020204030204" pitchFamily="2" charset="0"/>
      <p:regular r:id="rId18"/>
    </p:embeddedFont>
    <p:embeddedFont>
      <p:font typeface="Raleway Light" pitchFamily="2" charset="0"/>
      <p:regular r:id="rId19"/>
    </p:embeddedFont>
    <p:embeddedFont>
      <p:font typeface="Roboto" panose="02000000000000000000" pitchFamily="2" charset="0"/>
      <p:regular r:id="rId20"/>
    </p:embeddedFont>
    <p:embeddedFont>
      <p:font typeface="Roboto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83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Based Phishing Detection from URLs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 No - 23BCE0762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- G Harshaditya Reddy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7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4840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5712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Phishing Persistence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665809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Phishing remains one of the most persistent and costly attack vectors in cybersecurity, exploiting user trust through deceptive URLs rather than technical vulnerabilities.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54840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25712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Attack Surface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665809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Phishing URLs impersonate trusted brands and services to steal credentials, financial data, and personal information, often bypassing conventional security awareness.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51089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65980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URLs Matter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068491"/>
            <a:ext cx="53162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URL is the first and fastest point of interception — detecting malicious intent before a page even loads prevents damage that content-based or user-behavior defenses catch too late.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951089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65980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Study's Focus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068491"/>
            <a:ext cx="53163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investigate whether machine learning, using purely lexical and NLP-derived features of a URL string, can deliver accurate, real-time, and language-independent phishing detection without relying on external lookups or page content.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77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Survey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201" y="1904504"/>
            <a:ext cx="2175019" cy="39230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118916"/>
            <a:ext cx="164460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Blacklist / Whitelist Approaches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193752"/>
            <a:ext cx="164460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strictly to known threats — entirely ineffective against zero-day attacks and freshly registered phishing domains.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7227" y="1904504"/>
            <a:ext cx="2175118" cy="39230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118916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Heuristic Methods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2898477"/>
            <a:ext cx="1644708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systems offer broader coverage but lack contextual understanding, leading to high false-positive rates.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353" y="1904504"/>
            <a:ext cx="2175118" cy="39230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118916"/>
            <a:ext cx="164470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Approaches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193752"/>
            <a:ext cx="1644708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proper feature engineering, ML models consistently achieve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97–99% accuracy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setting the gold standard for detection.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02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989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Phishing URLs exploit user vulnerabilities through deceptive tactics that traditional systems cannot reliably intercept.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13993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3213993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Deceptive Domain Design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3917950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Attackers craft URLs using typosquatting, random character insertion, and brand mimicry to trick users and bypass filters.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213993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1836" y="3213993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Language Independence Required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071836" y="3917950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Detection systems must operate across any language URL structure without relying on locale-specific heuristics.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213993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73496" y="3213993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Real-Time, Autonomous Detection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773496" y="3917950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defense demands instant classification with no dependence on third-party services or lookup databases.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745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Objectives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314450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22344" y="1344861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66386" y="1370211"/>
            <a:ext cx="1036383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a URL-only detection pipeline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66386" y="1707753"/>
            <a:ext cx="1036383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 system that classifies URLs as phishing or legitimate using only the URL string, with no dependency on blacklists, WHOIS lookups, or page content.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1475" y="2470051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22344" y="2500461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66386" y="2525812"/>
            <a:ext cx="1036383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 robust NLP-based features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66386" y="2863354"/>
            <a:ext cx="1036383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40 NLP-derived features and 1,701 word vectors capturing lexical, structural, and semantic patterns common to phishing URLs (e.g., typosquatting, brand mimicry, compound-word obfuscation).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1475" y="3625652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22344" y="3656062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66386" y="3681413"/>
            <a:ext cx="1036383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Benchmark across multiple classifiers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66386" y="4018955"/>
            <a:ext cx="1036383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seven ML algorithms (Random Forest, Decision Tree, Naive Bayes, kNN, Adaboost, K-Star, SMO) to identify the most accurate and reliable model.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1475" y="4781252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2344" y="4811663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66386" y="4837013"/>
            <a:ext cx="1036383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at scale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66386" y="5174555"/>
            <a:ext cx="1036383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the approach on a large, balanced dataset (73,575 URLs) — 6–50× larger than comparable studies — to ensure the results generalize.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1475" y="5695255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22344" y="5725666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166386" y="5751016"/>
            <a:ext cx="1036383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Achieve language-independent, real-time detection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166386" y="6088559"/>
            <a:ext cx="1036383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the final system works across URLs in any language and can classify instantly, without third-party service dependency.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Algorithms and Architecture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909538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3706426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Ensemble Classification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3706426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NLP Feature Extraction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3706426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Word Decomposer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385927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URL Parsing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4848721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Pipeline Overview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1475" y="5096768"/>
            <a:ext cx="1086874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URLs are parsed and compound/concatenated words are split (word decomposition) to expose hidden tokens attackers use to mimic brand names. 40 NLP-based features and 1,701 word vectors are extracted from the decomposed URL structure. These features are fed into classifiers for final phishing/legitimate determination.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61475" y="5394424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Algorithms Evaluated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1475" y="5642471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 · Decision Tree · Naive Bayes · kNN · Adaboost · K-Star · SMO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61475" y="5826720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1475" y="607476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10-fold cross-validation with stratified splits on a balanced 73,575-URL dataset.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61475" y="6259016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Performer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1475" y="650706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 with NLP features — 89% accuracy with balanced precision and recall.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40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Outcome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52749"/>
            <a:ext cx="3496877" cy="3521174"/>
          </a:xfrm>
          <a:prstGeom prst="roundRect">
            <a:avLst>
              <a:gd name="adj" fmla="val 22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6832" y="234811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A Research Paper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756793"/>
            <a:ext cx="3106164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Documenting the NLP-feature-based methodology, benchmarking results across 7 classifiers, and demonstrating superiority over word-vector-only and traditional heuristic/blacklist approaches — suitable for submission to a cybersecurity/ML conference or journal.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152749"/>
            <a:ext cx="3496877" cy="3521174"/>
          </a:xfrm>
          <a:prstGeom prst="roundRect">
            <a:avLst>
              <a:gd name="adj" fmla="val 22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42716" y="2348111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A Deployable Detection Module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052068"/>
            <a:ext cx="310616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lightweight, real-time, language-independent URL classifier that can be integrated as a browser extension, email gateway plugin, or API service — requiring no third-party lookups, making it suitable for production deployment.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152749"/>
            <a:ext cx="3496877" cy="3521174"/>
          </a:xfrm>
          <a:prstGeom prst="roundRect">
            <a:avLst>
              <a:gd name="adj" fmla="val 22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8600" y="2348111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A Foundation for Future Extensions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052068"/>
            <a:ext cx="310616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current URL-only model establishes a baseline that can later be extended with HTML content analysis and visual similarity checks (as outlined in Future Work), pointing toward a more comprehensive phishing-detection product.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62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43992"/>
            <a:ext cx="1086874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phishing detection system was developed with a focus on robust data handling, meticulous feature engineering, and rigorous model validation to ensure high accuracy and real-time performance.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564184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61475" y="1762224"/>
            <a:ext cx="5393694" cy="127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1475" y="1849636"/>
            <a:ext cx="53936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Preparation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2092226"/>
            <a:ext cx="5393694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large, balanced, and stratified dataset of 73,575 URLs was used, comprising 36,400 legitimate and 37,175 phishing examples to prevent bias.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36526" y="1564184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36526" y="1762224"/>
            <a:ext cx="5393694" cy="127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36526" y="1849636"/>
            <a:ext cx="53936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6526" y="2092226"/>
            <a:ext cx="5393694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 NLP-based features were meticulously extracted from each URL's structure, including lexical elements like word length, path length, hostname length, and counts of hyphens and dots.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1475" y="2595166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1475" y="2793206"/>
            <a:ext cx="5393694" cy="127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1475" y="2880618"/>
            <a:ext cx="53936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475" y="3123208"/>
            <a:ext cx="5393694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Random Forest classifier was chosen for its high performance and trained using a 10-fold cross-validation approach to ensure robust generalization across diverse data.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36526" y="2595166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36526" y="2793206"/>
            <a:ext cx="5393694" cy="127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36526" y="2880618"/>
            <a:ext cx="53936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 Readiness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36526" y="3123208"/>
            <a:ext cx="5393694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engineered for real-time, language-independent classification, operating without any third-party dependencies for rapid and efficient threat detection.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1475" y="3666827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Metrics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61475" y="4160937"/>
            <a:ext cx="5383475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61475" y="4693345"/>
            <a:ext cx="538347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1475" y="4935934"/>
            <a:ext cx="53834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correct classifications.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46646" y="4160937"/>
            <a:ext cx="5383574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0.89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46646" y="4693345"/>
            <a:ext cx="538357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46646" y="4935934"/>
            <a:ext cx="53835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Rate of true positive detections.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1475" y="5324971"/>
            <a:ext cx="5383475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0.89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61475" y="5857379"/>
            <a:ext cx="538347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Recall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1475" y="6099969"/>
            <a:ext cx="53834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Ability to identify all relevant instances.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46646" y="5324971"/>
            <a:ext cx="5383574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0.89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146646" y="5857379"/>
            <a:ext cx="538357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F1-Score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46646" y="6099969"/>
            <a:ext cx="53835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Harmonic mean of precision and recall.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781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Phishing Threat Landscape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212578"/>
            <a:ext cx="3053877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28717" y="2407940"/>
            <a:ext cx="2663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💰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Billions Lost Annually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111897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Phishing attacks remain one of the costliest cybersecurity threats, affecting individuals and enterprises worldwide.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212578"/>
            <a:ext cx="3053976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71601" y="2407940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🚫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Blacklists Fall Short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816622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blacklist systems detect only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20% of attacks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leaving the vast majority of threats unaddressed.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70594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428717" y="490130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ML to the Rescue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30998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enables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real-time, dynamic detection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adapts to novel and zero-day phishing patterns.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Methodology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45" y="909538"/>
            <a:ext cx="9696406" cy="5298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6245" y="3392284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URL Parsing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199678" y="3357809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Word Decomposer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28174" y="3216004"/>
            <a:ext cx="2246753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NLP Feature Extraction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13606" y="545886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pipeline parses raw URLs, separates compound words, extracts 40 NLP-based features alongside 1,701 word vectors, and feeds them into ensemble classifiers for final phishing determination.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13606" y="5643380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5 Important Features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13605" y="5891758"/>
            <a:ext cx="10868745" cy="632916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max_word_length — 9.2%: longer URL tokens strongly influence phishing predictions.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path_length — 8.9%: unusually long paths are a key structural signal.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hostname_length — 6.9%: excessive hostname length helps identify suspicious URLs.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num_hyphens — 6.1%: repeated hyphen usage often reflects deceptive formatting.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num_dots — 5.9%: extra dot separators can indicate phishing-oriented URL structure.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&amp;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Experimental Setup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balanced corpus of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73,575 URLs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evaluated across seven classification algorithms with rigorous 10-fold cross-validation.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531096"/>
            <a:ext cx="5203794" cy="16442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Algorithms tested: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Random Forest, Decision Tree, Naive Bayes, kNN, Adaboost, K-Star, SMO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Validation: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10-fold cross-validation with stratified splits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Scale advantage: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Dataset 6–50× larger than competing studies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76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Results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50827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89%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Random Forest Accuracy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 and recall both at 89%, with consistent performance across 10-fold cross-validation.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850827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89%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Sensitivity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 and recall both at 89%, with consistent performance across 10-fold cross-validation.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196755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+10.86%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505668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NLP over Word Vectors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5465366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 features were the primary focus and consistently outperformed word vector features across all classifiers.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4196755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+2.24%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505668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Hybrid Boost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5465366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Combining NLP features with word vectors delivered a further accuracy gain in the best-performing model.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6" y="469503"/>
            <a:ext cx="4439134" cy="5918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0926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Advantages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233360" y="1136352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372561" y="1275556"/>
            <a:ext cx="398651" cy="398661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2195" y="1385193"/>
            <a:ext cx="179383" cy="1793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2561" y="1767582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Language Independent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72561" y="2031206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Operates across URLs in any language without locale-specific tuning.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233360" y="2444849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372561" y="2584053"/>
            <a:ext cx="398651" cy="398661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2195" y="2693690"/>
            <a:ext cx="179383" cy="1793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2561" y="3076079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Massive Dataset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72561" y="3339703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73,575 URLs — up to 50× larger than competing benchmarks of 1,400–11,000.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233360" y="3753346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5372561" y="3892550"/>
            <a:ext cx="398651" cy="398661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2195" y="4002187"/>
            <a:ext cx="179383" cy="1793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72561" y="4384576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Execution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72561" y="4648200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third-party service dependencies — fully autonomous and instant classification.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233360" y="5061843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5372561" y="5201047"/>
            <a:ext cx="398651" cy="398661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2195" y="5310684"/>
            <a:ext cx="179383" cy="1793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72561" y="5693073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Zero-Day Detection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372561" y="5956697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novel phishing patterns that blacklist systems completely miss.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69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 &amp; Future Work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4006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Limitations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47962"/>
            <a:ext cx="2507394" cy="27204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962374"/>
            <a:ext cx="19769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Short URL Challenge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741936"/>
            <a:ext cx="197698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URLs with minimal path segments provide insufficient feature signals, reducing detection confidence.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7875" y="2747962"/>
            <a:ext cx="2507394" cy="27204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73879" y="2962374"/>
            <a:ext cx="19769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Evolving Attacker Tactics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673879" y="3741936"/>
            <a:ext cx="197698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adaptation by threat actors requires ongoing model retraining and dataset refresh cycles.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332776" y="224006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Research Directions</a:t>
            </a:r>
            <a:endParaRPr lang="en-US" sz="1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3616" y="2753816"/>
            <a:ext cx="283461" cy="283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47024" y="2747962"/>
            <a:ext cx="18695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HTML Content Analysis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947024" y="3527524"/>
            <a:ext cx="186953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Incorporate page-level content signals beyond the URL string for richer detection context.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3630" y="2753816"/>
            <a:ext cx="283461" cy="2834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67038" y="2747962"/>
            <a:ext cx="186953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 Similarity Checks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9667038" y="3527524"/>
            <a:ext cx="186953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brand impersonation by comparing rendered page visuals against legitimate site screenshots.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75" y="504924"/>
            <a:ext cx="4385855" cy="5848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2541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61475" y="1498699"/>
            <a:ext cx="629686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research demonstrates that machine learning with NLP-based URL features delivers a powerful, scalable, and language-independent solution to phishing detection.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590502"/>
            <a:ext cx="6296860" cy="3624858"/>
          </a:xfrm>
          <a:prstGeom prst="roundRect">
            <a:avLst>
              <a:gd name="adj" fmla="val 215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67825" y="2596852"/>
            <a:ext cx="3142080" cy="2248991"/>
          </a:xfrm>
          <a:custGeom>
            <a:avLst/>
            <a:gdLst/>
            <a:ahLst/>
            <a:cxnLst/>
            <a:rect l="l" t="t" r="r" b="b"/>
            <a:pathLst>
              <a:path w="3142080" h="2248991">
                <a:moveTo>
                  <a:pt x="65123" y="0"/>
                </a:moveTo>
                <a:lnTo>
                  <a:pt x="3142080" y="0"/>
                </a:lnTo>
                <a:lnTo>
                  <a:pt x="3142080" y="2248991"/>
                </a:lnTo>
                <a:lnTo>
                  <a:pt x="0" y="2248991"/>
                </a:lnTo>
                <a:lnTo>
                  <a:pt x="0" y="65124"/>
                </a:lnTo>
                <a:arcTo wR="65123" hR="65124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53855" y="2782887"/>
            <a:ext cx="277001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89% Accuracy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3855" y="3183434"/>
            <a:ext cx="2770019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 achieves 89% accuracy with balanced precision and recall, demonstrating robust performance across diverse phishing patterns.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809905" y="2596852"/>
            <a:ext cx="3142080" cy="2248991"/>
          </a:xfrm>
          <a:custGeom>
            <a:avLst/>
            <a:gdLst/>
            <a:ahLst/>
            <a:cxnLst/>
            <a:rect l="l" t="t" r="r" b="b"/>
            <a:pathLst>
              <a:path w="3142080" h="2248991">
                <a:moveTo>
                  <a:pt x="0" y="0"/>
                </a:moveTo>
                <a:lnTo>
                  <a:pt x="3076957" y="0"/>
                </a:lnTo>
                <a:arcTo wR="65123" hR="65124" stAng="16200000" swAng="5400000"/>
                <a:lnTo>
                  <a:pt x="3142080" y="2248991"/>
                </a:lnTo>
                <a:lnTo>
                  <a:pt x="0" y="2248991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809905" y="2596852"/>
            <a:ext cx="25399" cy="2248991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995935" y="2782887"/>
            <a:ext cx="277001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Superior Scalability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95935" y="3183434"/>
            <a:ext cx="277001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Tested on the largest URL dataset in the field, confirming generalizability across diverse phishing strategies.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7825" y="4845844"/>
            <a:ext cx="6284160" cy="1363166"/>
          </a:xfrm>
          <a:custGeom>
            <a:avLst/>
            <a:gdLst/>
            <a:ahLst/>
            <a:cxnLst/>
            <a:rect l="l" t="t" r="r" b="b"/>
            <a:pathLst>
              <a:path w="6284160" h="1363166">
                <a:moveTo>
                  <a:pt x="0" y="0"/>
                </a:moveTo>
                <a:lnTo>
                  <a:pt x="6284160" y="0"/>
                </a:lnTo>
                <a:lnTo>
                  <a:pt x="6284160" y="1298042"/>
                </a:lnTo>
                <a:arcTo wR="65123" hR="65124" stAng="0" swAng="5400000"/>
                <a:lnTo>
                  <a:pt x="65123" y="1363166"/>
                </a:lnTo>
                <a:arcTo wR="65123" hR="65124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67825" y="484584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53855" y="5031879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Robust Defense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53855" y="5432425"/>
            <a:ext cx="59120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Real-time, zero-dependency detection that evolves with the threat landscape — ready for production deployment.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1429</Words>
  <Application>Microsoft Office PowerPoint</Application>
  <PresentationFormat>Widescreen</PresentationFormat>
  <Paragraphs>170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Roboto</vt:lpstr>
      <vt:lpstr>Arial</vt:lpstr>
      <vt:lpstr>Raleway</vt:lpstr>
      <vt:lpstr>Raleway Light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harshaditya reddy</cp:lastModifiedBy>
  <cp:revision>2</cp:revision>
  <dcterms:created xsi:type="dcterms:W3CDTF">2026-09-01T04:48:34Z</dcterms:created>
  <dcterms:modified xsi:type="dcterms:W3CDTF">2026-09-01T04:50:02Z</dcterms:modified>
</cp:coreProperties>
</file>